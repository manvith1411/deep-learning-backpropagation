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801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A83F25-8B8E-4F3A-874C-985FD9A270CF}" v="1" dt="2026-03-16T14:45:13.6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FRAN MOHAMMED" userId="36f6f75c437ebca2" providerId="LiveId" clId="{E1531E2D-6054-48FF-A7D5-674C7FDE3691}"/>
    <pc:docChg chg="custSel modSld">
      <pc:chgData name="AFRAN MOHAMMED" userId="36f6f75c437ebca2" providerId="LiveId" clId="{E1531E2D-6054-48FF-A7D5-674C7FDE3691}" dt="2026-03-16T14:44:59.346" v="103" actId="122"/>
      <pc:docMkLst>
        <pc:docMk/>
      </pc:docMkLst>
      <pc:sldChg chg="modSp mod">
        <pc:chgData name="AFRAN MOHAMMED" userId="36f6f75c437ebca2" providerId="LiveId" clId="{E1531E2D-6054-48FF-A7D5-674C7FDE3691}" dt="2026-03-16T14:44:59.346" v="103" actId="122"/>
        <pc:sldMkLst>
          <pc:docMk/>
          <pc:sldMk cId="2346595188" sldId="256"/>
        </pc:sldMkLst>
        <pc:spChg chg="mod">
          <ac:chgData name="AFRAN MOHAMMED" userId="36f6f75c437ebca2" providerId="LiveId" clId="{E1531E2D-6054-48FF-A7D5-674C7FDE3691}" dt="2026-03-16T14:44:59.346" v="103" actId="122"/>
          <ac:spMkLst>
            <pc:docMk/>
            <pc:sldMk cId="2346595188" sldId="256"/>
            <ac:spMk id="2" creationId="{473026E2-7684-A7C4-2675-B52637612BE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E3EBF9-A1B8-4265-A836-2D43357D76D1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D2FA90-E486-4510-B264-C75A4E503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541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D2FA90-E486-4510-B264-C75A4E503F3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191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D2FA90-E486-4510-B264-C75A4E503F3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076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019B-1BC0-4D20-8AAF-4F79B62254BE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0904A-801C-4055-B32E-DCFF989264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443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019B-1BC0-4D20-8AAF-4F79B62254BE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0904A-801C-4055-B32E-DCFF989264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1225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019B-1BC0-4D20-8AAF-4F79B62254BE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0904A-801C-4055-B32E-DCFF989264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472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019B-1BC0-4D20-8AAF-4F79B62254BE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0904A-801C-4055-B32E-DCFF989264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778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019B-1BC0-4D20-8AAF-4F79B62254BE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0904A-801C-4055-B32E-DCFF98926474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132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019B-1BC0-4D20-8AAF-4F79B62254BE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0904A-801C-4055-B32E-DCFF989264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229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019B-1BC0-4D20-8AAF-4F79B62254BE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0904A-801C-4055-B32E-DCFF989264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775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019B-1BC0-4D20-8AAF-4F79B62254BE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0904A-801C-4055-B32E-DCFF989264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600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449D019B-1BC0-4D20-8AAF-4F79B62254BE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0904A-801C-4055-B32E-DCFF989264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063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019B-1BC0-4D20-8AAF-4F79B62254BE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0904A-801C-4055-B32E-DCFF989264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64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019B-1BC0-4D20-8AAF-4F79B62254BE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0904A-801C-4055-B32E-DCFF989264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115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449D019B-1BC0-4D20-8AAF-4F79B62254BE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4E0904A-801C-4055-B32E-DCFF989264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671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02" r:id="rId1"/>
    <p:sldLayoutId id="2147484803" r:id="rId2"/>
    <p:sldLayoutId id="2147484804" r:id="rId3"/>
    <p:sldLayoutId id="2147484805" r:id="rId4"/>
    <p:sldLayoutId id="2147484806" r:id="rId5"/>
    <p:sldLayoutId id="2147484807" r:id="rId6"/>
    <p:sldLayoutId id="2147484808" r:id="rId7"/>
    <p:sldLayoutId id="2147484809" r:id="rId8"/>
    <p:sldLayoutId id="2147484810" r:id="rId9"/>
    <p:sldLayoutId id="2147484811" r:id="rId10"/>
    <p:sldLayoutId id="2147484812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26E2-7684-A7C4-2675-B52637612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391" y="997640"/>
            <a:ext cx="11231217" cy="4862719"/>
          </a:xfrm>
        </p:spPr>
        <p:txBody>
          <a:bodyPr>
            <a:noAutofit/>
          </a:bodyPr>
          <a:lstStyle/>
          <a:p>
            <a:r>
              <a:rPr lang="en-US" sz="7200" dirty="0">
                <a:latin typeface="Cambria Math" panose="02040503050406030204" pitchFamily="18" charset="0"/>
                <a:ea typeface="Cambria Math" panose="02040503050406030204" pitchFamily="18" charset="0"/>
              </a:rPr>
              <a:t>Difference between Backpropagation in CNN, RNN and ANN</a:t>
            </a:r>
            <a:br>
              <a:rPr lang="en-US" sz="72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br>
              <a:rPr lang="en-US" sz="72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Manvith(nnm23is094) | Mohammad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shaz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(nnm23is100)</a:t>
            </a:r>
            <a:endParaRPr lang="en-IN" sz="7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6595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72C84C-17CE-F0C7-9E60-59BD2FE963BD}"/>
              </a:ext>
            </a:extLst>
          </p:cNvPr>
          <p:cNvSpPr txBox="1"/>
          <p:nvPr/>
        </p:nvSpPr>
        <p:spPr>
          <a:xfrm>
            <a:off x="976009" y="367747"/>
            <a:ext cx="102399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u="sng" dirty="0"/>
              <a:t>Backpropagation in Artificial Neural Networks (ANN)</a:t>
            </a:r>
            <a:endParaRPr lang="en-IN" sz="3600" b="1" u="sng" dirty="0"/>
          </a:p>
        </p:txBody>
      </p:sp>
      <p:pic>
        <p:nvPicPr>
          <p:cNvPr id="1026" name="Picture 2" descr="Understanding Backpropagation for Multi-Layer Perceptrons (MLPs) | by  Sandani Fernando | Data Science Collective | Medium">
            <a:extLst>
              <a:ext uri="{FF2B5EF4-FFF2-40B4-BE49-F238E27FC236}">
                <a16:creationId xmlns:a16="http://schemas.microsoft.com/office/drawing/2014/main" id="{399B640C-58CC-78CD-00CC-670C039AB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6772" y="1123408"/>
            <a:ext cx="6698456" cy="4020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7B9AA0-EE6D-BC39-C6E0-A6B74772A4BC}"/>
              </a:ext>
            </a:extLst>
          </p:cNvPr>
          <p:cNvSpPr txBox="1"/>
          <p:nvPr/>
        </p:nvSpPr>
        <p:spPr>
          <a:xfrm>
            <a:off x="903791" y="5198164"/>
            <a:ext cx="103844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Concept</a:t>
            </a:r>
          </a:p>
          <a:p>
            <a:endParaRPr lang="en-US" b="1" u="sng" dirty="0"/>
          </a:p>
          <a:p>
            <a:r>
              <a:rPr lang="en-US" dirty="0"/>
              <a:t>Backpropagation in ANN computes the </a:t>
            </a:r>
            <a:r>
              <a:rPr lang="en-US" b="1" dirty="0"/>
              <a:t>gradient of the loss function with respect to weights</a:t>
            </a:r>
            <a:r>
              <a:rPr lang="en-US" dirty="0"/>
              <a:t> using the </a:t>
            </a:r>
            <a:r>
              <a:rPr lang="en-US" b="1" dirty="0"/>
              <a:t>chain rule</a:t>
            </a:r>
            <a:r>
              <a:rPr lang="en-US" dirty="0"/>
              <a:t>, and updates weights using </a:t>
            </a:r>
            <a:r>
              <a:rPr lang="en-US" b="1" dirty="0"/>
              <a:t>gradient descent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5061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4BB2052-6074-BDEC-813F-15D04572E4CB}"/>
                  </a:ext>
                </a:extLst>
              </p:cNvPr>
              <p:cNvSpPr txBox="1"/>
              <p:nvPr/>
            </p:nvSpPr>
            <p:spPr>
              <a:xfrm>
                <a:off x="238539" y="228600"/>
                <a:ext cx="11714922" cy="65529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800" b="1" u="sng" dirty="0"/>
                  <a:t>Forward Pass Formula:</a:t>
                </a:r>
              </a:p>
              <a:p>
                <a:r>
                  <a:rPr lang="en-IN" sz="2000" dirty="0"/>
                  <a:t>For neuron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0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ar-AE" sz="28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ar-AE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sz="28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8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ar-AE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ar-AE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8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8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ar-AE" sz="2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2000" dirty="0"/>
              </a:p>
              <a:p>
                <a:r>
                  <a:rPr lang="en-IN" sz="2000" dirty="0"/>
                  <a:t>where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2000" dirty="0"/>
                  <a:t>= </a:t>
                </a:r>
                <a:r>
                  <a:rPr lang="en-IN" sz="2000" dirty="0"/>
                  <a:t>input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ar-AE" sz="2000" dirty="0"/>
                  <a:t>= </a:t>
                </a:r>
                <a:r>
                  <a:rPr lang="en-IN" sz="2000" dirty="0"/>
                  <a:t>weight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ar-AE" sz="2000" dirty="0"/>
                  <a:t>= </a:t>
                </a:r>
                <a:r>
                  <a:rPr lang="en-IN" sz="2000" dirty="0"/>
                  <a:t>bias</a:t>
                </a:r>
              </a:p>
              <a:p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IN" sz="2000" dirty="0"/>
                  <a:t>= activation function</a:t>
                </a:r>
              </a:p>
              <a:p>
                <a:endParaRPr lang="en-IN" sz="2000" dirty="0"/>
              </a:p>
              <a:p>
                <a:r>
                  <a:rPr lang="en-IN" sz="2800" b="1" u="sng" dirty="0"/>
                  <a:t>Loss Function:</a:t>
                </a:r>
              </a:p>
              <a:p>
                <a:r>
                  <a:rPr lang="en-IN" sz="2000" dirty="0"/>
                  <a:t>Example (Mean Squared Error):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endChr m:val=""/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ar-AE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sSup>
                            <m:sSupPr>
                              <m:ctrlPr>
                                <a:rPr lang="ar-AE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280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 sz="2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sz="2000" dirty="0"/>
              </a:p>
              <a:p>
                <a:endParaRPr lang="ar-AE" sz="2800" dirty="0"/>
              </a:p>
              <a:p>
                <a:endParaRPr lang="en-IN" sz="2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4BB2052-6074-BDEC-813F-15D04572E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39" y="228600"/>
                <a:ext cx="11714922" cy="6552948"/>
              </a:xfrm>
              <a:prstGeom prst="rect">
                <a:avLst/>
              </a:prstGeom>
              <a:blipFill>
                <a:blip r:embed="rId3"/>
                <a:stretch>
                  <a:fillRect l="-1041" t="-10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6489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2B4AE1B-44C8-F8CA-2C3C-AC39F97E64C1}"/>
                  </a:ext>
                </a:extLst>
              </p:cNvPr>
              <p:cNvSpPr txBox="1"/>
              <p:nvPr/>
            </p:nvSpPr>
            <p:spPr>
              <a:xfrm>
                <a:off x="366092" y="91089"/>
                <a:ext cx="11459816" cy="7006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200" b="1" u="sng" dirty="0"/>
                  <a:t>Backpropagation Formula:</a:t>
                </a:r>
              </a:p>
              <a:p>
                <a:endParaRPr lang="en-IN" sz="2400" b="1" u="sng" dirty="0"/>
              </a:p>
              <a:p>
                <a:r>
                  <a:rPr lang="en-IN" dirty="0"/>
                  <a:t>Error at output layer:</a:t>
                </a:r>
                <a:endParaRPr lang="en-I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sSup>
                        <m:sSup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Weight gradient: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ar-AE" sz="2400" dirty="0"/>
              </a:p>
              <a:p>
                <a:r>
                  <a:rPr lang="en-IN" dirty="0"/>
                  <a:t>Weight update: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where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IN" dirty="0"/>
                  <a:t>is the learning rate.</a:t>
                </a:r>
              </a:p>
              <a:p>
                <a:endParaRPr lang="en-IN" sz="2400" b="1" dirty="0"/>
              </a:p>
              <a:p>
                <a:pPr>
                  <a:lnSpc>
                    <a:spcPct val="150000"/>
                  </a:lnSpc>
                </a:pPr>
                <a:r>
                  <a:rPr lang="en-IN" sz="3200" b="1" u="sng" dirty="0"/>
                  <a:t>Algorithm: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/>
                  <a:t>Initialize weights randomly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Perform </a:t>
                </a:r>
                <a:r>
                  <a:rPr lang="en-IN" sz="2000" b="1" dirty="0"/>
                  <a:t>forward propagation</a:t>
                </a:r>
                <a:endParaRPr lang="en-IN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Compute </a:t>
                </a:r>
                <a:r>
                  <a:rPr lang="en-IN" sz="2000" b="1" dirty="0"/>
                  <a:t>loss</a:t>
                </a:r>
                <a:endParaRPr lang="en-IN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Compute </a:t>
                </a:r>
                <a:r>
                  <a:rPr lang="en-IN" sz="2000" b="1" dirty="0"/>
                  <a:t>gradients using chain rule</a:t>
                </a:r>
                <a:endParaRPr lang="en-IN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Update weights using </a:t>
                </a:r>
                <a:r>
                  <a:rPr lang="en-IN" sz="2000" b="1" dirty="0"/>
                  <a:t>gradient descent</a:t>
                </a:r>
                <a:endParaRPr lang="en-IN" sz="2000" dirty="0"/>
              </a:p>
              <a:p>
                <a:endParaRPr lang="en-IN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2B4AE1B-44C8-F8CA-2C3C-AC39F97E6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092" y="91089"/>
                <a:ext cx="11459816" cy="7006020"/>
              </a:xfrm>
              <a:prstGeom prst="rect">
                <a:avLst/>
              </a:prstGeom>
              <a:blipFill>
                <a:blip r:embed="rId2"/>
                <a:stretch>
                  <a:fillRect l="-1330" t="-11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4387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63CA5A-BECF-BAF9-5810-F72CEDE408AE}"/>
              </a:ext>
            </a:extLst>
          </p:cNvPr>
          <p:cNvSpPr txBox="1"/>
          <p:nvPr/>
        </p:nvSpPr>
        <p:spPr>
          <a:xfrm>
            <a:off x="798443" y="128096"/>
            <a:ext cx="10595113" cy="6724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/>
              <a:t>Running Example Code (ANN)</a:t>
            </a:r>
          </a:p>
          <a:p>
            <a:r>
              <a:rPr lang="en-IN" sz="1100" dirty="0"/>
              <a:t>import </a:t>
            </a:r>
            <a:r>
              <a:rPr lang="en-IN" sz="1100" dirty="0" err="1"/>
              <a:t>numpy</a:t>
            </a:r>
            <a:r>
              <a:rPr lang="en-IN" sz="1100" dirty="0"/>
              <a:t> as np</a:t>
            </a:r>
          </a:p>
          <a:p>
            <a:endParaRPr lang="en-IN" sz="1100" dirty="0"/>
          </a:p>
          <a:p>
            <a:r>
              <a:rPr lang="en-IN" sz="1100" dirty="0"/>
              <a:t># Input and target</a:t>
            </a:r>
          </a:p>
          <a:p>
            <a:r>
              <a:rPr lang="en-IN" sz="1100" dirty="0"/>
              <a:t>X = </a:t>
            </a:r>
            <a:r>
              <a:rPr lang="en-IN" sz="1100" dirty="0" err="1"/>
              <a:t>np.array</a:t>
            </a:r>
            <a:r>
              <a:rPr lang="en-IN" sz="1100" dirty="0"/>
              <a:t>([[1, 2]])</a:t>
            </a:r>
          </a:p>
          <a:p>
            <a:r>
              <a:rPr lang="en-IN" sz="1100" dirty="0"/>
              <a:t>y = </a:t>
            </a:r>
            <a:r>
              <a:rPr lang="en-IN" sz="1100" dirty="0" err="1"/>
              <a:t>np.array</a:t>
            </a:r>
            <a:r>
              <a:rPr lang="en-IN" sz="1100" dirty="0"/>
              <a:t>([[1]])</a:t>
            </a:r>
          </a:p>
          <a:p>
            <a:endParaRPr lang="en-IN" sz="1100" dirty="0"/>
          </a:p>
          <a:p>
            <a:r>
              <a:rPr lang="en-IN" sz="1100" dirty="0"/>
              <a:t># Initialize weights</a:t>
            </a:r>
          </a:p>
          <a:p>
            <a:r>
              <a:rPr lang="en-IN" sz="1100" dirty="0"/>
              <a:t>W1 = </a:t>
            </a:r>
            <a:r>
              <a:rPr lang="en-IN" sz="1100" dirty="0" err="1"/>
              <a:t>np.random.rand</a:t>
            </a:r>
            <a:r>
              <a:rPr lang="en-IN" sz="1100" dirty="0"/>
              <a:t>(2, 2)</a:t>
            </a:r>
          </a:p>
          <a:p>
            <a:r>
              <a:rPr lang="en-IN" sz="1100" dirty="0"/>
              <a:t>W2 = </a:t>
            </a:r>
            <a:r>
              <a:rPr lang="en-IN" sz="1100" dirty="0" err="1"/>
              <a:t>np.random.rand</a:t>
            </a:r>
            <a:r>
              <a:rPr lang="en-IN" sz="1100" dirty="0"/>
              <a:t>(2, 1)</a:t>
            </a:r>
          </a:p>
          <a:p>
            <a:endParaRPr lang="en-IN" sz="1100" dirty="0"/>
          </a:p>
          <a:p>
            <a:r>
              <a:rPr lang="en-IN" sz="1100" dirty="0" err="1"/>
              <a:t>lr</a:t>
            </a:r>
            <a:r>
              <a:rPr lang="en-IN" sz="1100" dirty="0"/>
              <a:t> = 0.1</a:t>
            </a:r>
          </a:p>
          <a:p>
            <a:endParaRPr lang="en-IN" sz="1100" dirty="0"/>
          </a:p>
          <a:p>
            <a:r>
              <a:rPr lang="en-IN" sz="1100" dirty="0"/>
              <a:t># Forward pass</a:t>
            </a:r>
          </a:p>
          <a:p>
            <a:r>
              <a:rPr lang="en-IN" sz="1100" dirty="0"/>
              <a:t>h = np.dot(X, W1)</a:t>
            </a:r>
          </a:p>
          <a:p>
            <a:r>
              <a:rPr lang="en-IN" sz="1100" dirty="0" err="1"/>
              <a:t>h_act</a:t>
            </a:r>
            <a:r>
              <a:rPr lang="en-IN" sz="1100" dirty="0"/>
              <a:t> = 1/(1+np.exp(-h))       # sigmoid</a:t>
            </a:r>
          </a:p>
          <a:p>
            <a:endParaRPr lang="en-IN" sz="1100" dirty="0"/>
          </a:p>
          <a:p>
            <a:r>
              <a:rPr lang="en-IN" sz="1100" dirty="0"/>
              <a:t>output = np.dot(</a:t>
            </a:r>
            <a:r>
              <a:rPr lang="en-IN" sz="1100" dirty="0" err="1"/>
              <a:t>h_act</a:t>
            </a:r>
            <a:r>
              <a:rPr lang="en-IN" sz="1100" dirty="0"/>
              <a:t>, W2)</a:t>
            </a:r>
          </a:p>
          <a:p>
            <a:r>
              <a:rPr lang="en-IN" sz="1100" dirty="0" err="1"/>
              <a:t>y_pred</a:t>
            </a:r>
            <a:r>
              <a:rPr lang="en-IN" sz="1100" dirty="0"/>
              <a:t> = 1/(1+np.exp(-output))</a:t>
            </a:r>
          </a:p>
          <a:p>
            <a:endParaRPr lang="en-IN" sz="1100" dirty="0"/>
          </a:p>
          <a:p>
            <a:r>
              <a:rPr lang="en-IN" sz="1100" dirty="0"/>
              <a:t># Loss</a:t>
            </a:r>
          </a:p>
          <a:p>
            <a:r>
              <a:rPr lang="en-IN" sz="1100" dirty="0"/>
              <a:t>loss = </a:t>
            </a:r>
            <a:r>
              <a:rPr lang="en-IN" sz="1100" dirty="0" err="1"/>
              <a:t>np.mean</a:t>
            </a:r>
            <a:r>
              <a:rPr lang="en-IN" sz="1100" dirty="0"/>
              <a:t>((y - </a:t>
            </a:r>
            <a:r>
              <a:rPr lang="en-IN" sz="1100" dirty="0" err="1"/>
              <a:t>y_pred</a:t>
            </a:r>
            <a:r>
              <a:rPr lang="en-IN" sz="1100" dirty="0"/>
              <a:t>)**2)</a:t>
            </a:r>
          </a:p>
          <a:p>
            <a:endParaRPr lang="en-IN" sz="1100" dirty="0"/>
          </a:p>
          <a:p>
            <a:r>
              <a:rPr lang="en-IN" sz="1100" dirty="0"/>
              <a:t># Backpropagation</a:t>
            </a:r>
          </a:p>
          <a:p>
            <a:r>
              <a:rPr lang="en-IN" sz="1100" dirty="0" err="1"/>
              <a:t>d_output</a:t>
            </a:r>
            <a:r>
              <a:rPr lang="en-IN" sz="1100" dirty="0"/>
              <a:t> = (</a:t>
            </a:r>
            <a:r>
              <a:rPr lang="en-IN" sz="1100" dirty="0" err="1"/>
              <a:t>y_pred</a:t>
            </a:r>
            <a:r>
              <a:rPr lang="en-IN" sz="1100" dirty="0"/>
              <a:t> - y) * </a:t>
            </a:r>
            <a:r>
              <a:rPr lang="en-IN" sz="1100" dirty="0" err="1"/>
              <a:t>y_pred</a:t>
            </a:r>
            <a:r>
              <a:rPr lang="en-IN" sz="1100" dirty="0"/>
              <a:t> * (1 - </a:t>
            </a:r>
            <a:r>
              <a:rPr lang="en-IN" sz="1100" dirty="0" err="1"/>
              <a:t>y_pred</a:t>
            </a:r>
            <a:r>
              <a:rPr lang="en-IN" sz="1100" dirty="0"/>
              <a:t>)</a:t>
            </a:r>
          </a:p>
          <a:p>
            <a:endParaRPr lang="en-IN" sz="1100" dirty="0"/>
          </a:p>
          <a:p>
            <a:r>
              <a:rPr lang="en-IN" sz="1100" dirty="0"/>
              <a:t>dW2 = np.dot(</a:t>
            </a:r>
            <a:r>
              <a:rPr lang="en-IN" sz="1100" dirty="0" err="1"/>
              <a:t>h_act.T</a:t>
            </a:r>
            <a:r>
              <a:rPr lang="en-IN" sz="1100" dirty="0"/>
              <a:t>, </a:t>
            </a:r>
            <a:r>
              <a:rPr lang="en-IN" sz="1100" dirty="0" err="1"/>
              <a:t>d_output</a:t>
            </a:r>
            <a:r>
              <a:rPr lang="en-IN" sz="1100" dirty="0"/>
              <a:t>)</a:t>
            </a:r>
          </a:p>
          <a:p>
            <a:endParaRPr lang="en-IN" sz="1100" dirty="0"/>
          </a:p>
          <a:p>
            <a:r>
              <a:rPr lang="en-IN" sz="1100" dirty="0" err="1"/>
              <a:t>d_hidden</a:t>
            </a:r>
            <a:r>
              <a:rPr lang="en-IN" sz="1100" dirty="0"/>
              <a:t> = np.dot(</a:t>
            </a:r>
            <a:r>
              <a:rPr lang="en-IN" sz="1100" dirty="0" err="1"/>
              <a:t>d_output</a:t>
            </a:r>
            <a:r>
              <a:rPr lang="en-IN" sz="1100" dirty="0"/>
              <a:t>, W2.T) * </a:t>
            </a:r>
            <a:r>
              <a:rPr lang="en-IN" sz="1100" dirty="0" err="1"/>
              <a:t>h_act</a:t>
            </a:r>
            <a:r>
              <a:rPr lang="en-IN" sz="1100" dirty="0"/>
              <a:t> * (1 - </a:t>
            </a:r>
            <a:r>
              <a:rPr lang="en-IN" sz="1100" dirty="0" err="1"/>
              <a:t>h_act</a:t>
            </a:r>
            <a:r>
              <a:rPr lang="en-IN" sz="1100" dirty="0"/>
              <a:t>)</a:t>
            </a:r>
          </a:p>
          <a:p>
            <a:endParaRPr lang="en-IN" sz="1100" dirty="0"/>
          </a:p>
          <a:p>
            <a:r>
              <a:rPr lang="en-IN" sz="1100" dirty="0"/>
              <a:t>dW1 = np.dot(X.T, </a:t>
            </a:r>
            <a:r>
              <a:rPr lang="en-IN" sz="1100" dirty="0" err="1"/>
              <a:t>d_hidden</a:t>
            </a:r>
            <a:r>
              <a:rPr lang="en-IN" sz="1100" dirty="0"/>
              <a:t>)</a:t>
            </a:r>
          </a:p>
          <a:p>
            <a:endParaRPr lang="en-IN" sz="1100" dirty="0"/>
          </a:p>
          <a:p>
            <a:r>
              <a:rPr lang="en-IN" sz="1100" dirty="0"/>
              <a:t># Weight update</a:t>
            </a:r>
          </a:p>
          <a:p>
            <a:r>
              <a:rPr lang="en-IN" sz="1100" dirty="0"/>
              <a:t>W2 -= </a:t>
            </a:r>
            <a:r>
              <a:rPr lang="en-IN" sz="1100" dirty="0" err="1"/>
              <a:t>lr</a:t>
            </a:r>
            <a:r>
              <a:rPr lang="en-IN" sz="1100" dirty="0"/>
              <a:t> * dW2</a:t>
            </a:r>
          </a:p>
          <a:p>
            <a:r>
              <a:rPr lang="en-IN" sz="1100" dirty="0"/>
              <a:t>W1 -= </a:t>
            </a:r>
            <a:r>
              <a:rPr lang="en-IN" sz="1100" dirty="0" err="1"/>
              <a:t>lr</a:t>
            </a:r>
            <a:r>
              <a:rPr lang="en-IN" sz="1100" dirty="0"/>
              <a:t> * dW1</a:t>
            </a:r>
          </a:p>
          <a:p>
            <a:endParaRPr lang="en-IN" sz="1100" dirty="0"/>
          </a:p>
          <a:p>
            <a:r>
              <a:rPr lang="en-IN" sz="1100" dirty="0"/>
              <a:t>print("Prediction:", </a:t>
            </a:r>
            <a:r>
              <a:rPr lang="en-IN" sz="1100" dirty="0" err="1"/>
              <a:t>y_pred</a:t>
            </a:r>
            <a:r>
              <a:rPr lang="en-IN" sz="1100" dirty="0"/>
              <a:t>)</a:t>
            </a:r>
          </a:p>
          <a:p>
            <a:r>
              <a:rPr lang="en-IN" sz="1100" dirty="0"/>
              <a:t>print("Loss:", loss)</a:t>
            </a:r>
          </a:p>
        </p:txBody>
      </p:sp>
    </p:spTree>
    <p:extLst>
      <p:ext uri="{BB962C8B-B14F-4D97-AF65-F5344CB8AC3E}">
        <p14:creationId xmlns:p14="http://schemas.microsoft.com/office/powerpoint/2010/main" val="2168764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2C49B8-3A1F-DE87-FCB2-A0E4DA205DE4}"/>
              </a:ext>
            </a:extLst>
          </p:cNvPr>
          <p:cNvSpPr txBox="1"/>
          <p:nvPr/>
        </p:nvSpPr>
        <p:spPr>
          <a:xfrm>
            <a:off x="103118" y="183082"/>
            <a:ext cx="119857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u="sng" dirty="0"/>
              <a:t>Backpropagation in Convolutional Neural Networks (CNN)</a:t>
            </a:r>
          </a:p>
        </p:txBody>
      </p:sp>
      <p:pic>
        <p:nvPicPr>
          <p:cNvPr id="1026" name="Picture 2" descr="Understanding Convolutional Neural Networks (CNNs) | by Pratham singla |  Medium">
            <a:extLst>
              <a:ext uri="{FF2B5EF4-FFF2-40B4-BE49-F238E27FC236}">
                <a16:creationId xmlns:a16="http://schemas.microsoft.com/office/drawing/2014/main" id="{A560335C-2D58-9127-AFED-16528DAA9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561" y="1492740"/>
            <a:ext cx="10306878" cy="4844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6701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7A4CE3-6CD2-9142-5242-E78CBB48CCC5}"/>
                  </a:ext>
                </a:extLst>
              </p:cNvPr>
              <p:cNvSpPr txBox="1"/>
              <p:nvPr/>
            </p:nvSpPr>
            <p:spPr>
              <a:xfrm>
                <a:off x="217004" y="181957"/>
                <a:ext cx="11757991" cy="64940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800" b="1" u="sng" dirty="0"/>
                  <a:t>Concept:</a:t>
                </a:r>
              </a:p>
              <a:p>
                <a:pPr>
                  <a:buNone/>
                </a:pPr>
                <a:endParaRPr lang="en-IN" sz="2800" b="1" u="sng" dirty="0"/>
              </a:p>
              <a:p>
                <a:pPr>
                  <a:buNone/>
                </a:pPr>
                <a:r>
                  <a:rPr lang="en-IN" sz="2400" dirty="0"/>
                  <a:t>CNN backpropagation is similar to ANN but includes gradients for: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IN" sz="2400" b="1" dirty="0"/>
                  <a:t>Convolution filters</a:t>
                </a:r>
                <a:endParaRPr lang="en-IN" sz="24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IN" sz="2400" b="1" dirty="0"/>
                  <a:t>Pooling layers</a:t>
                </a:r>
                <a:endParaRPr lang="en-IN" sz="24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IN" sz="2400" b="1" dirty="0"/>
                  <a:t>Feature maps</a:t>
                </a:r>
                <a:endParaRPr lang="en-IN" sz="2400" dirty="0"/>
              </a:p>
              <a:p>
                <a:pPr>
                  <a:buNone/>
                </a:pPr>
                <a:r>
                  <a:rPr lang="en-IN" sz="2000" dirty="0"/>
                  <a:t>Instead of simple matrix multiplication, CNN uses </a:t>
                </a:r>
                <a:r>
                  <a:rPr lang="en-IN" sz="2000" b="1" dirty="0"/>
                  <a:t>convolution operations</a:t>
                </a:r>
                <a:r>
                  <a:rPr lang="en-IN" sz="2000" dirty="0"/>
                  <a:t>.</a:t>
                </a:r>
              </a:p>
              <a:p>
                <a:pPr>
                  <a:buNone/>
                </a:pPr>
                <a:endParaRPr lang="en-IN" sz="2000" dirty="0"/>
              </a:p>
              <a:p>
                <a:pPr>
                  <a:buNone/>
                </a:pPr>
                <a:br>
                  <a:rPr lang="en-IN" sz="2000" dirty="0"/>
                </a:br>
                <a:endParaRPr lang="en-IN" sz="2000" dirty="0"/>
              </a:p>
              <a:p>
                <a:pPr>
                  <a:buNone/>
                </a:pPr>
                <a:r>
                  <a:rPr lang="en-IN" sz="2800" b="1" u="sng" dirty="0"/>
                  <a:t>Convolution Forward Formula:</a:t>
                </a:r>
              </a:p>
              <a:p>
                <a:pPr>
                  <a:buNone/>
                </a:pPr>
                <a:r>
                  <a:rPr lang="pt-BR" sz="2800" dirty="0"/>
                  <a:t>				</a:t>
                </a:r>
              </a:p>
              <a:p>
                <a:pPr>
                  <a:buNone/>
                </a:pPr>
                <a:r>
                  <a:rPr lang="pt-BR" sz="2800" dirty="0"/>
                  <a:t>					</a:t>
                </a:r>
                <a:r>
                  <a:rPr lang="pt-BR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S(i,j)=(X∗K)(i,j)=m∑​n∑​X(i+m,j+n)K(m,n)</a:t>
                </a:r>
              </a:p>
              <a:p>
                <a:pPr>
                  <a:buNone/>
                </a:pPr>
                <a:endParaRPr lang="pt-BR" sz="2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None/>
                </a:pPr>
                <a:r>
                  <a:rPr lang="en-IN" sz="2400" dirty="0"/>
                  <a:t>Where,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IN" sz="2400" dirty="0"/>
                  <a:t>= input image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IN" sz="2400" dirty="0"/>
                  <a:t>= kernel/filter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7A4CE3-6CD2-9142-5242-E78CBB48C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04" y="181957"/>
                <a:ext cx="11757991" cy="6494085"/>
              </a:xfrm>
              <a:prstGeom prst="rect">
                <a:avLst/>
              </a:prstGeom>
              <a:blipFill>
                <a:blip r:embed="rId2"/>
                <a:stretch>
                  <a:fillRect l="-1089" t="-1033" b="-12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5835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C9E1098-0E23-22A3-5145-94AAE2A193E2}"/>
                  </a:ext>
                </a:extLst>
              </p:cNvPr>
              <p:cNvSpPr txBox="1"/>
              <p:nvPr/>
            </p:nvSpPr>
            <p:spPr>
              <a:xfrm>
                <a:off x="217004" y="70773"/>
                <a:ext cx="11757991" cy="67164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800" b="1" u="sng" dirty="0"/>
                  <a:t>Backpropagation Formula:</a:t>
                </a:r>
              </a:p>
              <a:p>
                <a:pPr>
                  <a:buNone/>
                </a:pPr>
                <a:r>
                  <a:rPr lang="en-IN" dirty="0"/>
                  <a:t>Gradient of filter: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endParaRPr lang="en-IN" dirty="0"/>
              </a:p>
              <a:p>
                <a:pPr>
                  <a:buNone/>
                </a:pPr>
                <a:r>
                  <a:rPr lang="en-IN" dirty="0"/>
                  <a:t>Gradient of input: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𝑋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𝑟𝑜𝑡𝑎𝑡𝑒𝑑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endParaRPr lang="en-IN" dirty="0"/>
              </a:p>
              <a:p>
                <a:pPr>
                  <a:buNone/>
                </a:pPr>
                <a:r>
                  <a:rPr lang="en-IN" dirty="0"/>
                  <a:t>Pooling layer gradient: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Max pooling:</a:t>
                </a:r>
                <a:r>
                  <a:rPr lang="en-IN" dirty="0"/>
                  <a:t> gradient passed only to max element.</a:t>
                </a:r>
              </a:p>
              <a:p>
                <a:pPr>
                  <a:buNone/>
                </a:pPr>
                <a:br>
                  <a:rPr lang="en-IN" dirty="0"/>
                </a:br>
                <a:endParaRPr lang="en-IN" dirty="0"/>
              </a:p>
              <a:p>
                <a:pPr>
                  <a:buNone/>
                </a:pPr>
                <a:r>
                  <a:rPr lang="en-IN" sz="2800" b="1" u="sng" dirty="0"/>
                  <a:t>Algorithm:</a:t>
                </a:r>
              </a:p>
              <a:p>
                <a:pPr>
                  <a:buFont typeface="+mj-lt"/>
                  <a:buAutoNum type="arabicPeriod"/>
                </a:pPr>
                <a:r>
                  <a:rPr lang="en-IN" dirty="0"/>
                  <a:t>Forward pass through convolution</a:t>
                </a:r>
              </a:p>
              <a:p>
                <a:pPr>
                  <a:buFont typeface="+mj-lt"/>
                  <a:buAutoNum type="arabicPeriod"/>
                </a:pPr>
                <a:r>
                  <a:rPr lang="en-IN" dirty="0"/>
                  <a:t>Apply activation (</a:t>
                </a:r>
                <a:r>
                  <a:rPr lang="en-IN" dirty="0" err="1"/>
                  <a:t>ReLU</a:t>
                </a:r>
                <a:r>
                  <a:rPr lang="en-IN" dirty="0"/>
                  <a:t>)</a:t>
                </a:r>
              </a:p>
              <a:p>
                <a:pPr>
                  <a:buFont typeface="+mj-lt"/>
                  <a:buAutoNum type="arabicPeriod"/>
                </a:pPr>
                <a:r>
                  <a:rPr lang="en-IN" dirty="0"/>
                  <a:t>Apply pooling</a:t>
                </a:r>
              </a:p>
              <a:p>
                <a:pPr>
                  <a:buFont typeface="+mj-lt"/>
                  <a:buAutoNum type="arabicPeriod"/>
                </a:pPr>
                <a:r>
                  <a:rPr lang="en-IN" dirty="0"/>
                  <a:t>Compute loss</a:t>
                </a:r>
              </a:p>
              <a:p>
                <a:pPr>
                  <a:buFont typeface="+mj-lt"/>
                  <a:buAutoNum type="arabicPeriod"/>
                </a:pPr>
                <a:r>
                  <a:rPr lang="en-IN" dirty="0"/>
                  <a:t>Backpropagate gradients through: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IN" dirty="0"/>
                  <a:t>Fully connected layer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IN" dirty="0"/>
                  <a:t>Pooling layer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IN" dirty="0"/>
                  <a:t>Convolution layer</a:t>
                </a:r>
              </a:p>
              <a:p>
                <a:pPr>
                  <a:buFont typeface="+mj-lt"/>
                  <a:buAutoNum type="arabicPeriod"/>
                </a:pPr>
                <a:r>
                  <a:rPr lang="en-IN" dirty="0"/>
                  <a:t>Update filter weights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C9E1098-0E23-22A3-5145-94AAE2A19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04" y="70773"/>
                <a:ext cx="11757991" cy="6716454"/>
              </a:xfrm>
              <a:prstGeom prst="rect">
                <a:avLst/>
              </a:prstGeom>
              <a:blipFill>
                <a:blip r:embed="rId3"/>
                <a:stretch>
                  <a:fillRect l="-1089" t="-999" b="-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5581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4D6170-43D2-2D12-E399-9D6A82BFEDA9}"/>
              </a:ext>
            </a:extLst>
          </p:cNvPr>
          <p:cNvSpPr txBox="1"/>
          <p:nvPr/>
        </p:nvSpPr>
        <p:spPr>
          <a:xfrm>
            <a:off x="330062" y="151179"/>
            <a:ext cx="11671023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/>
              <a:t>Running Example Code (CNN)</a:t>
            </a:r>
          </a:p>
          <a:p>
            <a:r>
              <a:rPr lang="en-IN" sz="1100" dirty="0"/>
              <a:t>import torch</a:t>
            </a:r>
          </a:p>
          <a:p>
            <a:r>
              <a:rPr lang="en-IN" sz="1100" dirty="0"/>
              <a:t>import </a:t>
            </a:r>
            <a:r>
              <a:rPr lang="en-IN" sz="1100" dirty="0" err="1"/>
              <a:t>torch.nn</a:t>
            </a:r>
            <a:r>
              <a:rPr lang="en-IN" sz="1100" dirty="0"/>
              <a:t> as </a:t>
            </a:r>
            <a:r>
              <a:rPr lang="en-IN" sz="1100" dirty="0" err="1"/>
              <a:t>nn</a:t>
            </a:r>
            <a:endParaRPr lang="en-IN" sz="1100" dirty="0"/>
          </a:p>
          <a:p>
            <a:r>
              <a:rPr lang="en-IN" sz="1100" dirty="0"/>
              <a:t>import </a:t>
            </a:r>
            <a:r>
              <a:rPr lang="en-IN" sz="1100" dirty="0" err="1"/>
              <a:t>torch.optim</a:t>
            </a:r>
            <a:r>
              <a:rPr lang="en-IN" sz="1100" dirty="0"/>
              <a:t> as </a:t>
            </a:r>
            <a:r>
              <a:rPr lang="en-IN" sz="1100" dirty="0" err="1"/>
              <a:t>optim</a:t>
            </a:r>
            <a:endParaRPr lang="en-IN" sz="1100" dirty="0"/>
          </a:p>
          <a:p>
            <a:endParaRPr lang="en-IN" sz="1100" dirty="0"/>
          </a:p>
          <a:p>
            <a:r>
              <a:rPr lang="en-IN" sz="1100" dirty="0"/>
              <a:t># Simple CNN</a:t>
            </a:r>
          </a:p>
          <a:p>
            <a:r>
              <a:rPr lang="en-IN" sz="1100" dirty="0"/>
              <a:t>class CNN(</a:t>
            </a:r>
            <a:r>
              <a:rPr lang="en-IN" sz="1100" dirty="0" err="1"/>
              <a:t>nn.Module</a:t>
            </a:r>
            <a:r>
              <a:rPr lang="en-IN" sz="1100" dirty="0"/>
              <a:t>):</a:t>
            </a:r>
          </a:p>
          <a:p>
            <a:r>
              <a:rPr lang="en-IN" sz="1100" dirty="0"/>
              <a:t>    def __</a:t>
            </a:r>
            <a:r>
              <a:rPr lang="en-IN" sz="1100" dirty="0" err="1"/>
              <a:t>init</a:t>
            </a:r>
            <a:r>
              <a:rPr lang="en-IN" sz="1100" dirty="0"/>
              <a:t>__(self):</a:t>
            </a:r>
          </a:p>
          <a:p>
            <a:r>
              <a:rPr lang="en-IN" sz="1100" dirty="0"/>
              <a:t>        super().__</a:t>
            </a:r>
            <a:r>
              <a:rPr lang="en-IN" sz="1100" dirty="0" err="1"/>
              <a:t>init</a:t>
            </a:r>
            <a:r>
              <a:rPr lang="en-IN" sz="1100" dirty="0"/>
              <a:t>__()</a:t>
            </a:r>
          </a:p>
          <a:p>
            <a:r>
              <a:rPr lang="en-IN" sz="1100" dirty="0"/>
              <a:t>        </a:t>
            </a:r>
            <a:r>
              <a:rPr lang="en-IN" sz="1100" dirty="0" err="1"/>
              <a:t>self.conv</a:t>
            </a:r>
            <a:r>
              <a:rPr lang="en-IN" sz="1100" dirty="0"/>
              <a:t> = nn.Conv2d(1, 1, </a:t>
            </a:r>
            <a:r>
              <a:rPr lang="en-IN" sz="1100" dirty="0" err="1"/>
              <a:t>kernel_size</a:t>
            </a:r>
            <a:r>
              <a:rPr lang="en-IN" sz="1100" dirty="0"/>
              <a:t>=3)</a:t>
            </a:r>
          </a:p>
          <a:p>
            <a:r>
              <a:rPr lang="en-IN" sz="1100" dirty="0"/>
              <a:t>        </a:t>
            </a:r>
            <a:r>
              <a:rPr lang="en-IN" sz="1100" dirty="0" err="1"/>
              <a:t>self.fc</a:t>
            </a:r>
            <a:r>
              <a:rPr lang="en-IN" sz="1100" dirty="0"/>
              <a:t> = </a:t>
            </a:r>
            <a:r>
              <a:rPr lang="en-IN" sz="1100" dirty="0" err="1"/>
              <a:t>nn.Linear</a:t>
            </a:r>
            <a:r>
              <a:rPr lang="en-IN" sz="1100" dirty="0"/>
              <a:t>(26*26, 1)</a:t>
            </a:r>
          </a:p>
          <a:p>
            <a:endParaRPr lang="en-IN" sz="1100" dirty="0"/>
          </a:p>
          <a:p>
            <a:r>
              <a:rPr lang="en-IN" sz="1100" dirty="0"/>
              <a:t>    def forward(self, x):</a:t>
            </a:r>
          </a:p>
          <a:p>
            <a:r>
              <a:rPr lang="en-IN" sz="1100" dirty="0"/>
              <a:t>        x = </a:t>
            </a:r>
            <a:r>
              <a:rPr lang="en-IN" sz="1100" dirty="0" err="1"/>
              <a:t>torch.relu</a:t>
            </a:r>
            <a:r>
              <a:rPr lang="en-IN" sz="1100" dirty="0"/>
              <a:t>(</a:t>
            </a:r>
            <a:r>
              <a:rPr lang="en-IN" sz="1100" dirty="0" err="1"/>
              <a:t>self.conv</a:t>
            </a:r>
            <a:r>
              <a:rPr lang="en-IN" sz="1100" dirty="0"/>
              <a:t>(x))</a:t>
            </a:r>
          </a:p>
          <a:p>
            <a:r>
              <a:rPr lang="en-IN" sz="1100" dirty="0"/>
              <a:t>        x = </a:t>
            </a:r>
            <a:r>
              <a:rPr lang="en-IN" sz="1100" dirty="0" err="1"/>
              <a:t>x.view</a:t>
            </a:r>
            <a:r>
              <a:rPr lang="en-IN" sz="1100" dirty="0"/>
              <a:t>(-1, 26*26)</a:t>
            </a:r>
          </a:p>
          <a:p>
            <a:r>
              <a:rPr lang="en-IN" sz="1100" dirty="0"/>
              <a:t>        x = </a:t>
            </a:r>
            <a:r>
              <a:rPr lang="en-IN" sz="1100" dirty="0" err="1"/>
              <a:t>torch.sigmoid</a:t>
            </a:r>
            <a:r>
              <a:rPr lang="en-IN" sz="1100" dirty="0"/>
              <a:t>(</a:t>
            </a:r>
            <a:r>
              <a:rPr lang="en-IN" sz="1100" dirty="0" err="1"/>
              <a:t>self.fc</a:t>
            </a:r>
            <a:r>
              <a:rPr lang="en-IN" sz="1100" dirty="0"/>
              <a:t>(x))</a:t>
            </a:r>
          </a:p>
          <a:p>
            <a:r>
              <a:rPr lang="en-IN" sz="1100" dirty="0"/>
              <a:t>        return x</a:t>
            </a:r>
          </a:p>
          <a:p>
            <a:endParaRPr lang="en-IN" sz="1100" dirty="0"/>
          </a:p>
          <a:p>
            <a:r>
              <a:rPr lang="en-IN" sz="1100" dirty="0"/>
              <a:t>model = CNN()</a:t>
            </a:r>
          </a:p>
          <a:p>
            <a:endParaRPr lang="en-IN" sz="1100" dirty="0"/>
          </a:p>
          <a:p>
            <a:r>
              <a:rPr lang="en-IN" sz="1100" dirty="0"/>
              <a:t># Dummy image</a:t>
            </a:r>
          </a:p>
          <a:p>
            <a:r>
              <a:rPr lang="en-IN" sz="1100" dirty="0"/>
              <a:t>x = </a:t>
            </a:r>
            <a:r>
              <a:rPr lang="en-IN" sz="1100" dirty="0" err="1"/>
              <a:t>torch.randn</a:t>
            </a:r>
            <a:r>
              <a:rPr lang="en-IN" sz="1100" dirty="0"/>
              <a:t>(1,1,28,28)</a:t>
            </a:r>
          </a:p>
          <a:p>
            <a:r>
              <a:rPr lang="en-IN" sz="1100" dirty="0"/>
              <a:t>y = </a:t>
            </a:r>
            <a:r>
              <a:rPr lang="en-IN" sz="1100" dirty="0" err="1"/>
              <a:t>torch.tensor</a:t>
            </a:r>
            <a:r>
              <a:rPr lang="en-IN" sz="1100" dirty="0"/>
              <a:t>([[1.0]])</a:t>
            </a:r>
          </a:p>
          <a:p>
            <a:endParaRPr lang="en-IN" sz="1100" dirty="0"/>
          </a:p>
          <a:p>
            <a:r>
              <a:rPr lang="en-IN" sz="1100" dirty="0"/>
              <a:t>criterion = </a:t>
            </a:r>
            <a:r>
              <a:rPr lang="en-IN" sz="1100" dirty="0" err="1"/>
              <a:t>nn.MSELoss</a:t>
            </a:r>
            <a:r>
              <a:rPr lang="en-IN" sz="1100" dirty="0"/>
              <a:t>()</a:t>
            </a:r>
          </a:p>
          <a:p>
            <a:r>
              <a:rPr lang="en-IN" sz="1100" dirty="0"/>
              <a:t>optimizer = </a:t>
            </a:r>
            <a:r>
              <a:rPr lang="en-IN" sz="1100" dirty="0" err="1"/>
              <a:t>optim.SGD</a:t>
            </a:r>
            <a:r>
              <a:rPr lang="en-IN" sz="1100" dirty="0"/>
              <a:t>(</a:t>
            </a:r>
            <a:r>
              <a:rPr lang="en-IN" sz="1100" dirty="0" err="1"/>
              <a:t>model.parameters</a:t>
            </a:r>
            <a:r>
              <a:rPr lang="en-IN" sz="1100" dirty="0"/>
              <a:t>(), </a:t>
            </a:r>
            <a:r>
              <a:rPr lang="en-IN" sz="1100" dirty="0" err="1"/>
              <a:t>lr</a:t>
            </a:r>
            <a:r>
              <a:rPr lang="en-IN" sz="1100" dirty="0"/>
              <a:t>=0.01)</a:t>
            </a:r>
          </a:p>
          <a:p>
            <a:endParaRPr lang="en-IN" sz="1100" dirty="0"/>
          </a:p>
          <a:p>
            <a:r>
              <a:rPr lang="en-IN" sz="1100" dirty="0"/>
              <a:t># Forward pass</a:t>
            </a:r>
          </a:p>
          <a:p>
            <a:r>
              <a:rPr lang="en-IN" sz="1100" dirty="0"/>
              <a:t>output = model(x)</a:t>
            </a:r>
          </a:p>
          <a:p>
            <a:r>
              <a:rPr lang="en-IN" sz="1100" dirty="0"/>
              <a:t>loss = criterion(output, y)</a:t>
            </a:r>
          </a:p>
          <a:p>
            <a:endParaRPr lang="en-IN" sz="1100" dirty="0"/>
          </a:p>
          <a:p>
            <a:r>
              <a:rPr lang="en-IN" sz="1100" dirty="0"/>
              <a:t># Backpropagation</a:t>
            </a:r>
          </a:p>
          <a:p>
            <a:r>
              <a:rPr lang="en-IN" sz="1100" dirty="0" err="1"/>
              <a:t>optimizer.zero_grad</a:t>
            </a:r>
            <a:r>
              <a:rPr lang="en-IN" sz="1100" dirty="0"/>
              <a:t>()</a:t>
            </a:r>
          </a:p>
          <a:p>
            <a:r>
              <a:rPr lang="en-IN" sz="1100" dirty="0" err="1"/>
              <a:t>loss.backward</a:t>
            </a:r>
            <a:r>
              <a:rPr lang="en-IN" sz="1100" dirty="0"/>
              <a:t>()</a:t>
            </a:r>
          </a:p>
          <a:p>
            <a:r>
              <a:rPr lang="en-IN" sz="1100" dirty="0" err="1"/>
              <a:t>optimizer.step</a:t>
            </a:r>
            <a:r>
              <a:rPr lang="en-IN" sz="1100" dirty="0"/>
              <a:t>()</a:t>
            </a:r>
          </a:p>
          <a:p>
            <a:endParaRPr lang="en-IN" sz="1100" dirty="0"/>
          </a:p>
          <a:p>
            <a:r>
              <a:rPr lang="en-IN" sz="1100" dirty="0"/>
              <a:t>print("Loss:", </a:t>
            </a:r>
            <a:r>
              <a:rPr lang="en-IN" sz="1100" dirty="0" err="1"/>
              <a:t>loss.item</a:t>
            </a:r>
            <a:r>
              <a:rPr lang="en-IN" sz="1100" dirty="0"/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186104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507EF1-EA3A-4F94-88C4-7A0E6916740F}"/>
              </a:ext>
            </a:extLst>
          </p:cNvPr>
          <p:cNvSpPr txBox="1"/>
          <p:nvPr/>
        </p:nvSpPr>
        <p:spPr>
          <a:xfrm>
            <a:off x="141218" y="103569"/>
            <a:ext cx="119095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/>
              <a:t>Backpropagation in Recurrent Neural Networks (RNN)</a:t>
            </a:r>
            <a:endParaRPr lang="en-IN" sz="3600" b="1" u="sng" dirty="0"/>
          </a:p>
        </p:txBody>
      </p:sp>
      <p:sp>
        <p:nvSpPr>
          <p:cNvPr id="4" name="AutoShape 2" descr="Backpropagation through time (BPTT) | Deep Learning... | Fiveable">
            <a:extLst>
              <a:ext uri="{FF2B5EF4-FFF2-40B4-BE49-F238E27FC236}">
                <a16:creationId xmlns:a16="http://schemas.microsoft.com/office/drawing/2014/main" id="{4D6327FB-AD92-6BBD-EFC5-D7D339C762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FDC6099-F275-70C5-38F1-820718B53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998" y="1303898"/>
            <a:ext cx="7593204" cy="5171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4626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9F75C-2366-488C-FAD1-DBD01C68688E}"/>
                  </a:ext>
                </a:extLst>
              </p:cNvPr>
              <p:cNvSpPr txBox="1"/>
              <p:nvPr/>
            </p:nvSpPr>
            <p:spPr>
              <a:xfrm>
                <a:off x="256761" y="171377"/>
                <a:ext cx="11678477" cy="65152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800" b="1" u="sng" dirty="0"/>
                  <a:t>Concept:</a:t>
                </a:r>
              </a:p>
              <a:p>
                <a:pPr>
                  <a:buNone/>
                </a:pPr>
                <a:r>
                  <a:rPr lang="en-IN" sz="2400" dirty="0"/>
                  <a:t>RNN uses </a:t>
                </a:r>
                <a:r>
                  <a:rPr lang="en-IN" sz="2400" b="1" dirty="0"/>
                  <a:t>Backpropagation Through Time (BPTT)</a:t>
                </a:r>
                <a:r>
                  <a:rPr lang="en-IN" sz="2400" dirty="0"/>
                  <a:t> because the same weights are reused across time steps.</a:t>
                </a:r>
              </a:p>
              <a:p>
                <a:pPr>
                  <a:buNone/>
                </a:pPr>
                <a:r>
                  <a:rPr lang="en-IN" sz="2400" dirty="0"/>
                  <a:t>The network is </a:t>
                </a:r>
                <a:r>
                  <a:rPr lang="en-IN" sz="2400" b="1" dirty="0"/>
                  <a:t>unrolled across time</a:t>
                </a:r>
                <a:r>
                  <a:rPr lang="en-IN" sz="2400" dirty="0"/>
                  <a:t> before computing gradients.</a:t>
                </a:r>
              </a:p>
              <a:p>
                <a:pPr>
                  <a:buNone/>
                </a:pPr>
                <a:endParaRPr lang="en-IN" sz="2400" dirty="0"/>
              </a:p>
              <a:p>
                <a:pPr>
                  <a:buNone/>
                </a:pPr>
                <a:r>
                  <a:rPr lang="en-IN" sz="2800" b="1" u="sng" dirty="0"/>
                  <a:t>Forward Pass Formula:</a:t>
                </a:r>
              </a:p>
              <a:p>
                <a:pPr>
                  <a:buNone/>
                </a:pPr>
                <a:r>
                  <a:rPr lang="en-IN" sz="2400" dirty="0"/>
                  <a:t>Hidden state: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:endParaRPr lang="en-IN" sz="2400" dirty="0"/>
              </a:p>
              <a:p>
                <a:pPr>
                  <a:buNone/>
                </a:pPr>
                <a:r>
                  <a:rPr lang="en-IN" sz="2400" dirty="0"/>
                  <a:t>Output: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24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:br>
                  <a:rPr lang="ar-AE" sz="2400" dirty="0"/>
                </a:br>
                <a:endParaRPr lang="ar-AE" sz="2400" dirty="0"/>
              </a:p>
              <a:p>
                <a:pPr>
                  <a:buNone/>
                </a:pPr>
                <a:r>
                  <a:rPr lang="en-IN" sz="2800" b="1" u="sng" dirty="0"/>
                  <a:t>Loss Function: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IN" sz="24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ar-AE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C9F75C-2366-488C-FAD1-DBD01C686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61" y="171377"/>
                <a:ext cx="11678477" cy="6515245"/>
              </a:xfrm>
              <a:prstGeom prst="rect">
                <a:avLst/>
              </a:prstGeom>
              <a:blipFill>
                <a:blip r:embed="rId2"/>
                <a:stretch>
                  <a:fillRect l="-1044" t="-9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5876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3363C2B-903E-B99F-F736-E4EB7D552E44}"/>
                  </a:ext>
                </a:extLst>
              </p:cNvPr>
              <p:cNvSpPr txBox="1"/>
              <p:nvPr/>
            </p:nvSpPr>
            <p:spPr>
              <a:xfrm>
                <a:off x="535056" y="173044"/>
                <a:ext cx="11121887" cy="65119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800" b="1" u="sng" dirty="0"/>
                  <a:t>Backpropagation Formula:</a:t>
                </a:r>
              </a:p>
              <a:p>
                <a:pPr>
                  <a:buNone/>
                </a:pPr>
                <a:r>
                  <a:rPr lang="en-IN" dirty="0"/>
                  <a:t>Gradient accumulates through time: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endParaRPr lang="en-IN" dirty="0"/>
              </a:p>
              <a:p>
                <a:pPr>
                  <a:buNone/>
                </a:pPr>
                <a:r>
                  <a:rPr lang="en-IN" dirty="0"/>
                  <a:t>Because: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endParaRPr lang="en-IN" dirty="0"/>
              </a:p>
              <a:p>
                <a:pPr>
                  <a:buNone/>
                </a:pPr>
                <a:r>
                  <a:rPr lang="en-IN" dirty="0"/>
                  <a:t>this causes </a:t>
                </a:r>
                <a:r>
                  <a:rPr lang="en-IN" b="1" dirty="0"/>
                  <a:t>vanishing/exploding gradients</a:t>
                </a:r>
                <a:r>
                  <a:rPr lang="en-IN" dirty="0"/>
                  <a:t>.</a:t>
                </a:r>
              </a:p>
              <a:p>
                <a:pPr>
                  <a:buNone/>
                </a:pPr>
                <a:br>
                  <a:rPr lang="en-IN" dirty="0"/>
                </a:br>
                <a:endParaRPr lang="en-IN" dirty="0"/>
              </a:p>
              <a:p>
                <a:pPr>
                  <a:buNone/>
                </a:pPr>
                <a:r>
                  <a:rPr lang="en-IN" sz="2800" b="1" u="sng" dirty="0"/>
                  <a:t>Algorithm:</a:t>
                </a:r>
              </a:p>
              <a:p>
                <a:pPr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IN" dirty="0"/>
                  <a:t>Unroll RNN for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IN" dirty="0"/>
                  <a:t>time steps</a:t>
                </a:r>
              </a:p>
              <a:p>
                <a:pPr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IN" dirty="0"/>
                  <a:t>Forward pass through sequence</a:t>
                </a:r>
              </a:p>
              <a:p>
                <a:pPr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IN" dirty="0"/>
                  <a:t>Compute total loss</a:t>
                </a:r>
              </a:p>
              <a:p>
                <a:pPr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IN" dirty="0"/>
                  <a:t>Backpropagate gradients from last step to first</a:t>
                </a:r>
              </a:p>
              <a:p>
                <a:pPr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IN" dirty="0"/>
                  <a:t>Accumulate gradients for shared weights</a:t>
                </a:r>
              </a:p>
              <a:p>
                <a:pPr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IN" dirty="0"/>
                  <a:t>Update weights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3363C2B-903E-B99F-F736-E4EB7D552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56" y="173044"/>
                <a:ext cx="11121887" cy="6511911"/>
              </a:xfrm>
              <a:prstGeom prst="rect">
                <a:avLst/>
              </a:prstGeom>
              <a:blipFill>
                <a:blip r:embed="rId2"/>
                <a:stretch>
                  <a:fillRect l="-1151" t="-935" b="-4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5194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2E7854-1D33-8A9B-B4CF-54B98DE72C98}"/>
              </a:ext>
            </a:extLst>
          </p:cNvPr>
          <p:cNvSpPr txBox="1"/>
          <p:nvPr/>
        </p:nvSpPr>
        <p:spPr>
          <a:xfrm>
            <a:off x="206237" y="0"/>
            <a:ext cx="5985841" cy="6909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/>
              <a:t>Running Example Code (CNN)</a:t>
            </a:r>
            <a:endParaRPr lang="en-IN" sz="2400" dirty="0"/>
          </a:p>
          <a:p>
            <a:r>
              <a:rPr lang="en-IN" sz="1200" dirty="0"/>
              <a:t>import torch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torch.nn</a:t>
            </a:r>
            <a:r>
              <a:rPr lang="en-IN" sz="1200" dirty="0"/>
              <a:t> as </a:t>
            </a:r>
            <a:r>
              <a:rPr lang="en-IN" sz="1200" dirty="0" err="1"/>
              <a:t>nn</a:t>
            </a:r>
            <a:endParaRPr lang="en-IN" sz="1200" dirty="0"/>
          </a:p>
          <a:p>
            <a:r>
              <a:rPr lang="en-IN" sz="1200" dirty="0"/>
              <a:t>import </a:t>
            </a:r>
            <a:r>
              <a:rPr lang="en-IN" sz="1200" dirty="0" err="1"/>
              <a:t>torch.optim</a:t>
            </a:r>
            <a:r>
              <a:rPr lang="en-IN" sz="1200" dirty="0"/>
              <a:t> as </a:t>
            </a:r>
            <a:r>
              <a:rPr lang="en-IN" sz="1200" dirty="0" err="1"/>
              <a:t>optim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/>
              <a:t># Simple RNN</a:t>
            </a:r>
          </a:p>
          <a:p>
            <a:r>
              <a:rPr lang="en-IN" sz="1200" dirty="0"/>
              <a:t>class </a:t>
            </a:r>
            <a:r>
              <a:rPr lang="en-IN" sz="1200" dirty="0" err="1"/>
              <a:t>RNNModel</a:t>
            </a:r>
            <a:r>
              <a:rPr lang="en-IN" sz="1200" dirty="0"/>
              <a:t>(</a:t>
            </a:r>
            <a:r>
              <a:rPr lang="en-IN" sz="1200" dirty="0" err="1"/>
              <a:t>nn.Module</a:t>
            </a:r>
            <a:r>
              <a:rPr lang="en-IN" sz="1200" dirty="0"/>
              <a:t>):</a:t>
            </a:r>
          </a:p>
          <a:p>
            <a:r>
              <a:rPr lang="en-IN" sz="1200" dirty="0"/>
              <a:t>    def __</a:t>
            </a:r>
            <a:r>
              <a:rPr lang="en-IN" sz="1200" dirty="0" err="1"/>
              <a:t>init</a:t>
            </a:r>
            <a:r>
              <a:rPr lang="en-IN" sz="1200" dirty="0"/>
              <a:t>__(self):</a:t>
            </a:r>
          </a:p>
          <a:p>
            <a:r>
              <a:rPr lang="en-IN" sz="1200" dirty="0"/>
              <a:t>        super().__</a:t>
            </a:r>
            <a:r>
              <a:rPr lang="en-IN" sz="1200" dirty="0" err="1"/>
              <a:t>init</a:t>
            </a:r>
            <a:r>
              <a:rPr lang="en-IN" sz="1200" dirty="0"/>
              <a:t>__()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self.rnn</a:t>
            </a:r>
            <a:r>
              <a:rPr lang="en-IN" sz="1200" dirty="0"/>
              <a:t> = </a:t>
            </a:r>
            <a:r>
              <a:rPr lang="en-IN" sz="1200" dirty="0" err="1"/>
              <a:t>nn.RNN</a:t>
            </a:r>
            <a:r>
              <a:rPr lang="en-IN" sz="1200" dirty="0"/>
              <a:t>(</a:t>
            </a:r>
            <a:r>
              <a:rPr lang="en-IN" sz="1200" dirty="0" err="1"/>
              <a:t>input_size</a:t>
            </a:r>
            <a:r>
              <a:rPr lang="en-IN" sz="1200" dirty="0"/>
              <a:t>=3, </a:t>
            </a:r>
            <a:r>
              <a:rPr lang="en-IN" sz="1200" dirty="0" err="1"/>
              <a:t>hidden_size</a:t>
            </a:r>
            <a:r>
              <a:rPr lang="en-IN" sz="1200" dirty="0"/>
              <a:t>=5, </a:t>
            </a:r>
            <a:r>
              <a:rPr lang="en-IN" sz="1200" dirty="0" err="1"/>
              <a:t>batch_first</a:t>
            </a:r>
            <a:r>
              <a:rPr lang="en-IN" sz="1200" dirty="0"/>
              <a:t>=True)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self.fc</a:t>
            </a:r>
            <a:r>
              <a:rPr lang="en-IN" sz="1200" dirty="0"/>
              <a:t> = </a:t>
            </a:r>
            <a:r>
              <a:rPr lang="en-IN" sz="1200" dirty="0" err="1"/>
              <a:t>nn.Linear</a:t>
            </a:r>
            <a:r>
              <a:rPr lang="en-IN" sz="1200" dirty="0"/>
              <a:t>(5,1)</a:t>
            </a:r>
          </a:p>
          <a:p>
            <a:endParaRPr lang="en-IN" sz="1100" dirty="0"/>
          </a:p>
          <a:p>
            <a:r>
              <a:rPr lang="en-IN" sz="1200" dirty="0"/>
              <a:t>    def forward(self, x):</a:t>
            </a:r>
          </a:p>
          <a:p>
            <a:r>
              <a:rPr lang="en-IN" sz="1200" dirty="0"/>
              <a:t>        out, _ = </a:t>
            </a:r>
            <a:r>
              <a:rPr lang="en-IN" sz="1200" dirty="0" err="1"/>
              <a:t>self.rnn</a:t>
            </a:r>
            <a:r>
              <a:rPr lang="en-IN" sz="1200" dirty="0"/>
              <a:t>(x)</a:t>
            </a:r>
          </a:p>
          <a:p>
            <a:r>
              <a:rPr lang="en-IN" sz="1200" dirty="0"/>
              <a:t>        out = </a:t>
            </a:r>
            <a:r>
              <a:rPr lang="en-IN" sz="1200" dirty="0" err="1"/>
              <a:t>self.fc</a:t>
            </a:r>
            <a:r>
              <a:rPr lang="en-IN" sz="1200" dirty="0"/>
              <a:t>(out[:,-1,:])</a:t>
            </a:r>
          </a:p>
          <a:p>
            <a:r>
              <a:rPr lang="en-IN" sz="1200" dirty="0"/>
              <a:t>        return </a:t>
            </a:r>
            <a:r>
              <a:rPr lang="en-IN" sz="1200" dirty="0" err="1"/>
              <a:t>torch.sigmoid</a:t>
            </a:r>
            <a:r>
              <a:rPr lang="en-IN" sz="1200" dirty="0"/>
              <a:t>(out)</a:t>
            </a:r>
          </a:p>
          <a:p>
            <a:endParaRPr lang="en-IN" sz="1200" dirty="0"/>
          </a:p>
          <a:p>
            <a:r>
              <a:rPr lang="en-IN" sz="1200" dirty="0"/>
              <a:t>model = </a:t>
            </a:r>
            <a:r>
              <a:rPr lang="en-IN" sz="1200" dirty="0" err="1"/>
              <a:t>RNNModel</a:t>
            </a:r>
            <a:r>
              <a:rPr lang="en-IN" sz="1200" dirty="0"/>
              <a:t>()</a:t>
            </a:r>
          </a:p>
          <a:p>
            <a:endParaRPr lang="en-IN" sz="1200" dirty="0"/>
          </a:p>
          <a:p>
            <a:r>
              <a:rPr lang="en-IN" sz="1200" dirty="0"/>
              <a:t># Dummy sequence (3 timesteps)</a:t>
            </a:r>
          </a:p>
          <a:p>
            <a:r>
              <a:rPr lang="en-IN" sz="1200" dirty="0"/>
              <a:t>x = </a:t>
            </a:r>
            <a:r>
              <a:rPr lang="en-IN" sz="1200" dirty="0" err="1"/>
              <a:t>torch.randn</a:t>
            </a:r>
            <a:r>
              <a:rPr lang="en-IN" sz="1200" dirty="0"/>
              <a:t>(1,3,3)</a:t>
            </a:r>
          </a:p>
          <a:p>
            <a:r>
              <a:rPr lang="en-IN" sz="1200" dirty="0"/>
              <a:t>y = </a:t>
            </a:r>
            <a:r>
              <a:rPr lang="en-IN" sz="1200" dirty="0" err="1"/>
              <a:t>torch.tensor</a:t>
            </a:r>
            <a:r>
              <a:rPr lang="en-IN" sz="1200" dirty="0"/>
              <a:t>([[1.0]])</a:t>
            </a:r>
          </a:p>
          <a:p>
            <a:endParaRPr lang="en-IN" sz="1200" dirty="0"/>
          </a:p>
          <a:p>
            <a:r>
              <a:rPr lang="en-IN" sz="1200" dirty="0"/>
              <a:t>criterion = </a:t>
            </a:r>
            <a:r>
              <a:rPr lang="en-IN" sz="1200" dirty="0" err="1"/>
              <a:t>nn.MSELoss</a:t>
            </a:r>
            <a:r>
              <a:rPr lang="en-IN" sz="1200" dirty="0"/>
              <a:t>()</a:t>
            </a:r>
          </a:p>
          <a:p>
            <a:r>
              <a:rPr lang="en-IN" sz="1200" dirty="0"/>
              <a:t>optimizer = </a:t>
            </a:r>
            <a:r>
              <a:rPr lang="en-IN" sz="1200" dirty="0" err="1"/>
              <a:t>optim.Adam</a:t>
            </a:r>
            <a:r>
              <a:rPr lang="en-IN" sz="1200" dirty="0"/>
              <a:t>(</a:t>
            </a:r>
            <a:r>
              <a:rPr lang="en-IN" sz="1200" dirty="0" err="1"/>
              <a:t>model.parameters</a:t>
            </a:r>
            <a:r>
              <a:rPr lang="en-IN" sz="1200" dirty="0"/>
              <a:t>(), </a:t>
            </a:r>
            <a:r>
              <a:rPr lang="en-IN" sz="1200" dirty="0" err="1"/>
              <a:t>lr</a:t>
            </a:r>
            <a:r>
              <a:rPr lang="en-IN" sz="1200" dirty="0"/>
              <a:t>=0.01)</a:t>
            </a:r>
          </a:p>
          <a:p>
            <a:endParaRPr lang="en-IN" sz="1200" dirty="0"/>
          </a:p>
          <a:p>
            <a:r>
              <a:rPr lang="en-IN" sz="1200" dirty="0"/>
              <a:t># Forward pass</a:t>
            </a:r>
          </a:p>
          <a:p>
            <a:r>
              <a:rPr lang="en-IN" sz="1200" dirty="0"/>
              <a:t>output = model(x)</a:t>
            </a:r>
          </a:p>
          <a:p>
            <a:r>
              <a:rPr lang="en-IN" sz="1200" dirty="0"/>
              <a:t>loss = criterion(output, y)</a:t>
            </a:r>
          </a:p>
          <a:p>
            <a:endParaRPr lang="en-IN" sz="1200" dirty="0"/>
          </a:p>
          <a:p>
            <a:r>
              <a:rPr lang="en-IN" sz="1200" dirty="0"/>
              <a:t># Backpropagation Through Time</a:t>
            </a:r>
          </a:p>
          <a:p>
            <a:r>
              <a:rPr lang="en-IN" sz="1200" dirty="0" err="1"/>
              <a:t>optimizer.zero_grad</a:t>
            </a:r>
            <a:r>
              <a:rPr lang="en-IN" sz="1200" dirty="0"/>
              <a:t>()</a:t>
            </a:r>
          </a:p>
          <a:p>
            <a:r>
              <a:rPr lang="en-IN" sz="1200" dirty="0" err="1"/>
              <a:t>loss.backward</a:t>
            </a:r>
            <a:r>
              <a:rPr lang="en-IN" sz="1200" dirty="0"/>
              <a:t>()</a:t>
            </a:r>
          </a:p>
          <a:p>
            <a:r>
              <a:rPr lang="en-IN" sz="1200" dirty="0" err="1"/>
              <a:t>optimizer.step</a:t>
            </a:r>
            <a:r>
              <a:rPr lang="en-IN" sz="1200" dirty="0"/>
              <a:t>()</a:t>
            </a:r>
          </a:p>
          <a:p>
            <a:endParaRPr lang="en-IN" sz="1200" dirty="0"/>
          </a:p>
          <a:p>
            <a:r>
              <a:rPr lang="en-IN" sz="1200" dirty="0"/>
              <a:t>print("Loss:", </a:t>
            </a:r>
            <a:r>
              <a:rPr lang="en-IN" sz="1200" dirty="0" err="1"/>
              <a:t>loss.item</a:t>
            </a:r>
            <a:r>
              <a:rPr lang="en-IN" sz="1200" dirty="0"/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896879707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223</TotalTime>
  <Words>1095</Words>
  <Application>Microsoft Office PowerPoint</Application>
  <PresentationFormat>Widescreen</PresentationFormat>
  <Paragraphs>214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Cambria Math</vt:lpstr>
      <vt:lpstr>Gill Sans MT</vt:lpstr>
      <vt:lpstr>Parcel</vt:lpstr>
      <vt:lpstr>Difference between Backpropagation in CNN, RNN and ANN  Manvith(nnm23is094) | Mohammad shaz (nnm23is100)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AFRAN MOHAMMED</dc:creator>
  <cp:lastModifiedBy>AFRAN MOHAMMED</cp:lastModifiedBy>
  <cp:revision>2</cp:revision>
  <dcterms:created xsi:type="dcterms:W3CDTF">2026-03-16T10:55:14Z</dcterms:created>
  <dcterms:modified xsi:type="dcterms:W3CDTF">2026-03-16T14:45:14Z</dcterms:modified>
</cp:coreProperties>
</file>